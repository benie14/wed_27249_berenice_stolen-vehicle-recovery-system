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8" r:id="rId3"/>
    <p:sldId id="269" r:id="rId4"/>
    <p:sldId id="258" r:id="rId5"/>
    <p:sldId id="259" r:id="rId6"/>
    <p:sldId id="260" r:id="rId7"/>
    <p:sldId id="270" r:id="rId8"/>
    <p:sldId id="262" r:id="rId9"/>
    <p:sldId id="264"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7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49EEE32-2E66-473C-A250-D9C649C2C6D3}"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294556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9EEE32-2E66-473C-A250-D9C649C2C6D3}"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1928659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49EEE32-2E66-473C-A250-D9C649C2C6D3}"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1358315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49EEE32-2E66-473C-A250-D9C649C2C6D3}"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776242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49EEE32-2E66-473C-A250-D9C649C2C6D3}" type="datetimeFigureOut">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2786370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49EEE32-2E66-473C-A250-D9C649C2C6D3}" type="datetimeFigureOut">
              <a:rPr lang="en-US" smtClean="0"/>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1236767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9EEE32-2E66-473C-A250-D9C649C2C6D3}" type="datetimeFigureOut">
              <a:rPr lang="en-US" smtClean="0"/>
              <a:t>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3875613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49EEE32-2E66-473C-A250-D9C649C2C6D3}"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3122252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49EEE32-2E66-473C-A250-D9C649C2C6D3}"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4207135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49EEE32-2E66-473C-A250-D9C649C2C6D3}"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3297620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49EEE32-2E66-473C-A250-D9C649C2C6D3}"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2575473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49EEE32-2E66-473C-A250-D9C649C2C6D3}"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BE878-4E9F-45E6-BE44-49C94E2FEC7E}"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2694038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49EEE32-2E66-473C-A250-D9C649C2C6D3}"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9753085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B49EEE32-2E66-473C-A250-D9C649C2C6D3}" type="datetimeFigureOut">
              <a:rPr lang="en-US" smtClean="0"/>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1711989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B49EEE32-2E66-473C-A250-D9C649C2C6D3}" type="datetimeFigureOut">
              <a:rPr lang="en-US" smtClean="0"/>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4657974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9EEE32-2E66-473C-A250-D9C649C2C6D3}"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414902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9EEE32-2E66-473C-A250-D9C649C2C6D3}"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BE878-4E9F-45E6-BE44-49C94E2FEC7E}" type="slidenum">
              <a:rPr lang="en-US" smtClean="0"/>
              <a:t>‹#›</a:t>
            </a:fld>
            <a:endParaRPr lang="en-US"/>
          </a:p>
        </p:txBody>
      </p:sp>
    </p:spTree>
    <p:extLst>
      <p:ext uri="{BB962C8B-B14F-4D97-AF65-F5344CB8AC3E}">
        <p14:creationId xmlns:p14="http://schemas.microsoft.com/office/powerpoint/2010/main" val="261669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49EEE32-2E66-473C-A250-D9C649C2C6D3}" type="datetimeFigureOut">
              <a:rPr lang="en-US" smtClean="0"/>
              <a:t>12/9/2025</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A3BE878-4E9F-45E6-BE44-49C94E2FEC7E}" type="slidenum">
              <a:rPr lang="en-US" smtClean="0"/>
              <a:t>‹#›</a:t>
            </a:fld>
            <a:endParaRPr lang="en-US"/>
          </a:p>
        </p:txBody>
      </p:sp>
    </p:spTree>
    <p:extLst>
      <p:ext uri="{BB962C8B-B14F-4D97-AF65-F5344CB8AC3E}">
        <p14:creationId xmlns:p14="http://schemas.microsoft.com/office/powerpoint/2010/main" val="426241803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48639"/>
            <a:ext cx="9144000" cy="769303"/>
          </a:xfrm>
        </p:spPr>
        <p:txBody>
          <a:bodyPr>
            <a:normAutofit/>
          </a:bodyPr>
          <a:lstStyle/>
          <a:p>
            <a:r>
              <a:rPr lang="en-US" sz="3200" dirty="0" smtClean="0">
                <a:latin typeface="Arial" panose="020B0604020202020204" pitchFamily="34" charset="0"/>
                <a:cs typeface="Arial" panose="020B0604020202020204" pitchFamily="34" charset="0"/>
              </a:rPr>
              <a:t>Stolen Vehicle Recovery System</a:t>
            </a:r>
            <a:endParaRPr lang="en-US" sz="32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524000" y="3525715"/>
            <a:ext cx="9144000" cy="2312378"/>
          </a:xfrm>
        </p:spPr>
        <p:txBody>
          <a:bodyPr/>
          <a:lstStyle/>
          <a:p>
            <a:pPr algn="l"/>
            <a:r>
              <a:rPr lang="en-US" dirty="0" smtClean="0">
                <a:latin typeface="Arial" panose="020B0604020202020204" pitchFamily="34" charset="0"/>
                <a:cs typeface="Arial" panose="020B0604020202020204" pitchFamily="34" charset="0"/>
              </a:rPr>
              <a:t>Name: NIYOKURI Berenice</a:t>
            </a:r>
          </a:p>
          <a:p>
            <a:pPr algn="l"/>
            <a:r>
              <a:rPr lang="en-US" dirty="0" smtClean="0">
                <a:latin typeface="Arial" panose="020B0604020202020204" pitchFamily="34" charset="0"/>
                <a:cs typeface="Arial" panose="020B0604020202020204" pitchFamily="34" charset="0"/>
              </a:rPr>
              <a:t>ID: 27249</a:t>
            </a:r>
          </a:p>
          <a:p>
            <a:pPr algn="l"/>
            <a:r>
              <a:rPr lang="en-US" dirty="0" smtClean="0">
                <a:latin typeface="Arial" panose="020B0604020202020204" pitchFamily="34" charset="0"/>
                <a:cs typeface="Arial" panose="020B0604020202020204" pitchFamily="34" charset="0"/>
              </a:rPr>
              <a:t>AUCA – IT Faculty</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Date: </a:t>
            </a:r>
            <a:r>
              <a:rPr lang="en-US" i="1" dirty="0" smtClean="0">
                <a:latin typeface="Arial" panose="020B0604020202020204" pitchFamily="34" charset="0"/>
                <a:cs typeface="Arial" panose="020B0604020202020204" pitchFamily="34" charset="0"/>
              </a:rPr>
              <a:t>9</a:t>
            </a:r>
            <a:r>
              <a:rPr lang="en-US" i="1" baseline="30000" dirty="0" smtClean="0">
                <a:latin typeface="Arial" panose="020B0604020202020204" pitchFamily="34" charset="0"/>
                <a:cs typeface="Arial" panose="020B0604020202020204" pitchFamily="34" charset="0"/>
              </a:rPr>
              <a:t>th</a:t>
            </a:r>
            <a:r>
              <a:rPr lang="en-US" i="1" dirty="0" smtClean="0">
                <a:latin typeface="Arial" panose="020B0604020202020204" pitchFamily="34" charset="0"/>
                <a:cs typeface="Arial" panose="020B0604020202020204" pitchFamily="34" charset="0"/>
              </a:rPr>
              <a:t> December, 2025</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6917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Arial" panose="020B0604020202020204" pitchFamily="34" charset="0"/>
                <a:cs typeface="Arial" panose="020B0604020202020204" pitchFamily="34" charset="0"/>
              </a:rPr>
              <a:t>Problem Identification</a:t>
            </a:r>
          </a:p>
        </p:txBody>
      </p:sp>
      <p:sp>
        <p:nvSpPr>
          <p:cNvPr id="3" name="Content Placeholder 2"/>
          <p:cNvSpPr>
            <a:spLocks noGrp="1"/>
          </p:cNvSpPr>
          <p:nvPr>
            <p:ph idx="1"/>
          </p:nvPr>
        </p:nvSpPr>
        <p:spPr/>
        <p:txBody>
          <a:bodyPr>
            <a:normAutofit fontScale="85000" lnSpcReduction="10000"/>
          </a:bodyPr>
          <a:lstStyle/>
          <a:p>
            <a:r>
              <a:rPr lang="en-US" sz="1800" dirty="0">
                <a:latin typeface="Arial" panose="020B0604020202020204" pitchFamily="34" charset="0"/>
                <a:cs typeface="Arial" panose="020B0604020202020204" pitchFamily="34" charset="0"/>
              </a:rPr>
              <a:t>Vehicle theft causes financial and operational losses: Stolen vehicles lead to direct financial losses for owners and insurance companies. Law enforcement spends additional resources tracking and recovering stolen vehicles. Delays in response can increase the risk of theft escalation or damage, affecting both public safety and operational </a:t>
            </a:r>
            <a:r>
              <a:rPr lang="en-US" sz="1800" dirty="0" smtClean="0">
                <a:latin typeface="Arial" panose="020B0604020202020204" pitchFamily="34" charset="0"/>
                <a:cs typeface="Arial" panose="020B0604020202020204" pitchFamily="34" charset="0"/>
              </a:rPr>
              <a:t>efficiency.</a:t>
            </a:r>
          </a:p>
          <a:p>
            <a:r>
              <a:rPr lang="en-US" sz="1800" dirty="0" smtClean="0">
                <a:latin typeface="Arial" panose="020B0604020202020204" pitchFamily="34" charset="0"/>
                <a:cs typeface="Arial" panose="020B0604020202020204" pitchFamily="34" charset="0"/>
              </a:rPr>
              <a:t>Lack </a:t>
            </a:r>
            <a:r>
              <a:rPr lang="en-US" sz="1800" dirty="0">
                <a:latin typeface="Arial" panose="020B0604020202020204" pitchFamily="34" charset="0"/>
                <a:cs typeface="Arial" panose="020B0604020202020204" pitchFamily="34" charset="0"/>
              </a:rPr>
              <a:t>of real-time monitoring and rule enforcement: Traditional systems often rely on manual reporting, which causes delays. Alerts may go unnoticed or unchecked, especially outside regular working hours. Without automated enforcement of business rules (e.g., duplicate alert prevention or restricted insert times), data inconsistencies and misuse can </a:t>
            </a:r>
            <a:r>
              <a:rPr lang="en-US" sz="1800" dirty="0" smtClean="0">
                <a:latin typeface="Arial" panose="020B0604020202020204" pitchFamily="34" charset="0"/>
                <a:cs typeface="Arial" panose="020B0604020202020204" pitchFamily="34" charset="0"/>
              </a:rPr>
              <a:t>occur.</a:t>
            </a:r>
          </a:p>
          <a:p>
            <a:r>
              <a:rPr lang="en-US" sz="1800" dirty="0" smtClean="0">
                <a:latin typeface="Arial" panose="020B0604020202020204" pitchFamily="34" charset="0"/>
                <a:cs typeface="Arial" panose="020B0604020202020204" pitchFamily="34" charset="0"/>
              </a:rPr>
              <a:t>Police</a:t>
            </a:r>
            <a:r>
              <a:rPr lang="en-US" sz="1800" dirty="0">
                <a:latin typeface="Arial" panose="020B0604020202020204" pitchFamily="34" charset="0"/>
                <a:cs typeface="Arial" panose="020B0604020202020204" pitchFamily="34" charset="0"/>
              </a:rPr>
              <a:t>, administrators, and city traffic department need efficient, transparent alert handling: Police require prioritized alerts to respond quickly to high-risk cases. Administrators need audit logs and reports to ensure compliance with policies and identify operational gaps. The city traffic department benefits from aggregated data and trends for policy planning and resource allocation. A centralized, automated system ensures all stakeholders can access accurate, up-to-date information in a transparent manner.</a:t>
            </a:r>
          </a:p>
          <a:p>
            <a:endParaRPr lang="en-US" dirty="0"/>
          </a:p>
        </p:txBody>
      </p:sp>
    </p:spTree>
    <p:extLst>
      <p:ext uri="{BB962C8B-B14F-4D97-AF65-F5344CB8AC3E}">
        <p14:creationId xmlns:p14="http://schemas.microsoft.com/office/powerpoint/2010/main" val="2240091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Arial" panose="020B0604020202020204" pitchFamily="34" charset="0"/>
                <a:cs typeface="Arial" panose="020B0604020202020204" pitchFamily="34" charset="0"/>
              </a:rPr>
              <a:t>solution</a:t>
            </a:r>
            <a:endParaRPr lang="en-US" sz="32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sz="1400" dirty="0">
                <a:latin typeface="Arial" panose="020B0604020202020204" pitchFamily="34" charset="0"/>
                <a:cs typeface="Arial" panose="020B0604020202020204" pitchFamily="34" charset="0"/>
              </a:rPr>
              <a:t>Our system centralizes all vehicle, alert, and user data into a single database. Alerts are automatically checked for duplicates or restricted times, and all actions are logged in real time. Business Intelligence dashboards allow stakeholders to see trends, compliance, and performance metrics. Finally, PL/SQL procedures ensure updates are secure and </a:t>
            </a:r>
            <a:r>
              <a:rPr lang="en-US" sz="1400" dirty="0" smtClean="0">
                <a:latin typeface="Arial" panose="020B0604020202020204" pitchFamily="34" charset="0"/>
                <a:cs typeface="Arial" panose="020B0604020202020204" pitchFamily="34" charset="0"/>
              </a:rPr>
              <a:t>controlled:</a:t>
            </a:r>
          </a:p>
          <a:p>
            <a:r>
              <a:rPr lang="en-US" sz="1400" dirty="0" smtClean="0">
                <a:latin typeface="Arial" panose="020B0604020202020204" pitchFamily="34" charset="0"/>
                <a:cs typeface="Arial" panose="020B0604020202020204" pitchFamily="34" charset="0"/>
              </a:rPr>
              <a:t>Centralized </a:t>
            </a:r>
            <a:r>
              <a:rPr lang="en-US" sz="1400" dirty="0">
                <a:latin typeface="Arial" panose="020B0604020202020204" pitchFamily="34" charset="0"/>
                <a:cs typeface="Arial" panose="020B0604020202020204" pitchFamily="34" charset="0"/>
              </a:rPr>
              <a:t>database for vehicles, alerts, and users</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Automated alert handling with rule enforcement</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Real-time audit logging for transparency</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BI dashboards for decision-making</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Secure, controlled updates via PL/SQL procedures.</a:t>
            </a:r>
          </a:p>
        </p:txBody>
      </p:sp>
    </p:spTree>
    <p:extLst>
      <p:ext uri="{BB962C8B-B14F-4D97-AF65-F5344CB8AC3E}">
        <p14:creationId xmlns:p14="http://schemas.microsoft.com/office/powerpoint/2010/main" val="4261625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4" y="656681"/>
            <a:ext cx="5929773" cy="1204546"/>
          </a:xfrm>
        </p:spPr>
        <p:txBody>
          <a:bodyPr/>
          <a:lstStyle/>
          <a:p>
            <a:r>
              <a:rPr lang="en-US" dirty="0" smtClean="0">
                <a:latin typeface="Arial" panose="020B0604020202020204" pitchFamily="34" charset="0"/>
                <a:cs typeface="Arial" panose="020B0604020202020204" pitchFamily="34" charset="0"/>
              </a:rPr>
              <a:t>Database</a:t>
            </a:r>
            <a:r>
              <a:rPr lang="en-US" dirty="0" smtClean="0"/>
              <a:t> </a:t>
            </a:r>
            <a:r>
              <a:rPr lang="en-US" dirty="0" err="1" smtClean="0">
                <a:latin typeface="Arial" panose="020B0604020202020204" pitchFamily="34" charset="0"/>
                <a:cs typeface="Arial" panose="020B0604020202020204" pitchFamily="34" charset="0"/>
              </a:rPr>
              <a:t>er</a:t>
            </a:r>
            <a:endParaRPr lang="en-US" dirty="0">
              <a:latin typeface="Arial" panose="020B0604020202020204" pitchFamily="34" charset="0"/>
              <a:cs typeface="Arial" panose="020B0604020202020204" pitchFamily="34" charset="0"/>
            </a:endParaRPr>
          </a:p>
        </p:txBody>
      </p:sp>
      <p:pic>
        <p:nvPicPr>
          <p:cNvPr id="8" name="Picture Placeholder 7"/>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252" t="-208" r="-765" b="208"/>
          <a:stretch/>
        </p:blipFill>
        <p:spPr>
          <a:xfrm>
            <a:off x="6488723" y="758881"/>
            <a:ext cx="5521569" cy="4883038"/>
          </a:xfrm>
        </p:spPr>
      </p:pic>
      <p:sp>
        <p:nvSpPr>
          <p:cNvPr id="4" name="Text Placeholder 3"/>
          <p:cNvSpPr>
            <a:spLocks noGrp="1"/>
          </p:cNvSpPr>
          <p:nvPr>
            <p:ph type="body" sz="half" idx="2"/>
          </p:nvPr>
        </p:nvSpPr>
        <p:spPr>
          <a:xfrm>
            <a:off x="913794" y="2338754"/>
            <a:ext cx="5934950" cy="3780692"/>
          </a:xfrm>
        </p:spPr>
        <p:txBody>
          <a:bodyPr>
            <a:normAutofit fontScale="25000" lnSpcReduction="20000"/>
          </a:bodyPr>
          <a:lstStyle/>
          <a:p>
            <a:pPr algn="l"/>
            <a:r>
              <a:rPr lang="en-US" sz="5600" b="1" dirty="0" smtClean="0">
                <a:latin typeface="Arial" panose="020B0604020202020204" pitchFamily="34" charset="0"/>
                <a:cs typeface="Arial" panose="020B0604020202020204" pitchFamily="34" charset="0"/>
              </a:rPr>
              <a:t>Key Entities:</a:t>
            </a:r>
            <a:endParaRPr lang="en-US" sz="5600" dirty="0" smtClean="0">
              <a:latin typeface="Arial" panose="020B0604020202020204" pitchFamily="34" charset="0"/>
              <a:cs typeface="Arial" panose="020B0604020202020204" pitchFamily="34" charset="0"/>
            </a:endParaRPr>
          </a:p>
          <a:p>
            <a:pPr algn="l"/>
            <a:r>
              <a:rPr lang="en-US" sz="5600" dirty="0" smtClean="0">
                <a:latin typeface="Arial" panose="020B0604020202020204" pitchFamily="34" charset="0"/>
                <a:cs typeface="Arial" panose="020B0604020202020204" pitchFamily="34" charset="0"/>
              </a:rPr>
              <a:t>Owner</a:t>
            </a:r>
          </a:p>
          <a:p>
            <a:pPr algn="l"/>
            <a:r>
              <a:rPr lang="en-US" sz="5600" dirty="0" smtClean="0">
                <a:latin typeface="Arial" panose="020B0604020202020204" pitchFamily="34" charset="0"/>
                <a:cs typeface="Arial" panose="020B0604020202020204" pitchFamily="34" charset="0"/>
              </a:rPr>
              <a:t>Vehicle</a:t>
            </a:r>
          </a:p>
          <a:p>
            <a:pPr algn="l"/>
            <a:r>
              <a:rPr lang="en-US" sz="5600" dirty="0" smtClean="0">
                <a:latin typeface="Arial" panose="020B0604020202020204" pitchFamily="34" charset="0"/>
                <a:cs typeface="Arial" panose="020B0604020202020204" pitchFamily="34" charset="0"/>
              </a:rPr>
              <a:t>Alert</a:t>
            </a:r>
          </a:p>
          <a:p>
            <a:pPr algn="l"/>
            <a:r>
              <a:rPr lang="en-US" sz="5600" dirty="0" smtClean="0">
                <a:latin typeface="Arial" panose="020B0604020202020204" pitchFamily="34" charset="0"/>
                <a:cs typeface="Arial" panose="020B0604020202020204" pitchFamily="34" charset="0"/>
              </a:rPr>
              <a:t>Theft Report</a:t>
            </a:r>
          </a:p>
          <a:p>
            <a:pPr algn="l"/>
            <a:r>
              <a:rPr lang="en-US" sz="5600" dirty="0" err="1" smtClean="0">
                <a:latin typeface="Arial" panose="020B0604020202020204" pitchFamily="34" charset="0"/>
                <a:cs typeface="Arial" panose="020B0604020202020204" pitchFamily="34" charset="0"/>
              </a:rPr>
              <a:t>Location_log</a:t>
            </a:r>
            <a:endParaRPr lang="en-US" sz="5600" dirty="0" smtClean="0">
              <a:latin typeface="Arial" panose="020B0604020202020204" pitchFamily="34" charset="0"/>
              <a:cs typeface="Arial" panose="020B0604020202020204" pitchFamily="34" charset="0"/>
            </a:endParaRPr>
          </a:p>
          <a:p>
            <a:pPr algn="l"/>
            <a:r>
              <a:rPr lang="en-US" sz="5600" dirty="0" smtClean="0">
                <a:latin typeface="Arial" panose="020B0604020202020204" pitchFamily="34" charset="0"/>
                <a:cs typeface="Arial" panose="020B0604020202020204" pitchFamily="34" charset="0"/>
              </a:rPr>
              <a:t>GPS Tracker</a:t>
            </a:r>
          </a:p>
          <a:p>
            <a:pPr algn="l"/>
            <a:r>
              <a:rPr lang="en-US" sz="5600" b="1" dirty="0" smtClean="0">
                <a:latin typeface="Arial" panose="020B0604020202020204" pitchFamily="34" charset="0"/>
                <a:cs typeface="Arial" panose="020B0604020202020204" pitchFamily="34" charset="0"/>
              </a:rPr>
              <a:t>ER Diagram assumes:</a:t>
            </a:r>
            <a:endParaRPr lang="en-US" sz="5600" dirty="0" smtClean="0">
              <a:latin typeface="Arial" panose="020B0604020202020204" pitchFamily="34" charset="0"/>
              <a:cs typeface="Arial" panose="020B0604020202020204" pitchFamily="34" charset="0"/>
            </a:endParaRPr>
          </a:p>
          <a:p>
            <a:pPr algn="l"/>
            <a:r>
              <a:rPr lang="en-US" sz="5600" dirty="0" smtClean="0">
                <a:latin typeface="Arial" panose="020B0604020202020204" pitchFamily="34" charset="0"/>
                <a:cs typeface="Arial" panose="020B0604020202020204" pitchFamily="34" charset="0"/>
              </a:rPr>
              <a:t>1–many Vehicles → Alerts</a:t>
            </a:r>
          </a:p>
          <a:p>
            <a:pPr algn="l"/>
            <a:r>
              <a:rPr lang="en-US" sz="5600" dirty="0" smtClean="0">
                <a:latin typeface="Arial" panose="020B0604020202020204" pitchFamily="34" charset="0"/>
                <a:cs typeface="Arial" panose="020B0604020202020204" pitchFamily="34" charset="0"/>
              </a:rPr>
              <a:t>Alerts </a:t>
            </a:r>
            <a:r>
              <a:rPr lang="en-US" sz="5600" dirty="0">
                <a:latin typeface="Arial" panose="020B0604020202020204" pitchFamily="34" charset="0"/>
                <a:cs typeface="Arial" panose="020B0604020202020204" pitchFamily="34" charset="0"/>
              </a:rPr>
              <a:t>are only sent </a:t>
            </a:r>
            <a:r>
              <a:rPr lang="en-US" sz="5600" b="1" dirty="0">
                <a:latin typeface="Arial" panose="020B0604020202020204" pitchFamily="34" charset="0"/>
                <a:cs typeface="Arial" panose="020B0604020202020204" pitchFamily="34" charset="0"/>
              </a:rPr>
              <a:t>after theft confirmation</a:t>
            </a:r>
            <a:r>
              <a:rPr lang="en-US" sz="5600" dirty="0" smtClean="0">
                <a:latin typeface="Arial" panose="020B0604020202020204" pitchFamily="34" charset="0"/>
                <a:cs typeface="Arial" panose="020B0604020202020204" pitchFamily="34" charset="0"/>
              </a:rPr>
              <a:t>.</a:t>
            </a:r>
          </a:p>
          <a:p>
            <a:pPr algn="l"/>
            <a:r>
              <a:rPr lang="en-US" sz="5600" dirty="0">
                <a:latin typeface="Arial" panose="020B0604020202020204" pitchFamily="34" charset="0"/>
                <a:cs typeface="Arial" panose="020B0604020202020204" pitchFamily="34" charset="0"/>
              </a:rPr>
              <a:t>One owner can register multiple vehicles</a:t>
            </a:r>
            <a:r>
              <a:rPr lang="en-US" dirty="0"/>
              <a:t>.</a:t>
            </a:r>
          </a:p>
        </p:txBody>
      </p:sp>
    </p:spTree>
    <p:extLst>
      <p:ext uri="{BB962C8B-B14F-4D97-AF65-F5344CB8AC3E}">
        <p14:creationId xmlns:p14="http://schemas.microsoft.com/office/powerpoint/2010/main" val="3366980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4" y="274320"/>
            <a:ext cx="5929773" cy="1183640"/>
          </a:xfrm>
        </p:spPr>
        <p:txBody>
          <a:bodyPr/>
          <a:lstStyle/>
          <a:p>
            <a:r>
              <a:rPr lang="en-US" dirty="0" smtClean="0">
                <a:latin typeface="Arial" panose="020B0604020202020204" pitchFamily="34" charset="0"/>
                <a:cs typeface="Arial" panose="020B0604020202020204" pitchFamily="34" charset="0"/>
              </a:rPr>
              <a:t>Business</a:t>
            </a:r>
            <a:r>
              <a:rPr lang="en-US" dirty="0" smtClean="0"/>
              <a:t> </a:t>
            </a:r>
            <a:r>
              <a:rPr lang="en-US" dirty="0" smtClean="0">
                <a:latin typeface="Arial" panose="020B0604020202020204" pitchFamily="34" charset="0"/>
                <a:cs typeface="Arial" panose="020B0604020202020204" pitchFamily="34" charset="0"/>
              </a:rPr>
              <a:t>process</a:t>
            </a:r>
            <a:endParaRPr lang="en-US" dirty="0">
              <a:latin typeface="Arial" panose="020B0604020202020204" pitchFamily="34" charset="0"/>
              <a:cs typeface="Arial" panose="020B0604020202020204" pitchFamily="34" charset="0"/>
            </a:endParaRPr>
          </a:p>
        </p:txBody>
      </p:sp>
      <p:pic>
        <p:nvPicPr>
          <p:cNvPr id="5" name="Picture Placeholder 4"/>
          <p:cNvPicPr>
            <a:picLocks noGrp="1" noChangeAspect="1"/>
          </p:cNvPicPr>
          <p:nvPr>
            <p:ph type="pic" idx="1"/>
          </p:nvPr>
        </p:nvPicPr>
        <p:blipFill rotWithShape="1">
          <a:blip r:embed="rId2" cstate="print">
            <a:extLst>
              <a:ext uri="{28A0092B-C50C-407E-A947-70E740481C1C}">
                <a14:useLocalDpi xmlns:a14="http://schemas.microsoft.com/office/drawing/2010/main" val="0"/>
              </a:ext>
            </a:extLst>
          </a:blip>
          <a:srcRect l="-380" t="144" r="-61"/>
          <a:stretch/>
        </p:blipFill>
        <p:spPr>
          <a:xfrm>
            <a:off x="7424804" y="347400"/>
            <a:ext cx="4411596" cy="6099239"/>
          </a:xfrm>
        </p:spPr>
      </p:pic>
      <p:sp>
        <p:nvSpPr>
          <p:cNvPr id="4" name="Text Placeholder 3"/>
          <p:cNvSpPr>
            <a:spLocks noGrp="1"/>
          </p:cNvSpPr>
          <p:nvPr>
            <p:ph type="body" sz="half" idx="2"/>
          </p:nvPr>
        </p:nvSpPr>
        <p:spPr>
          <a:xfrm>
            <a:off x="913794" y="1656080"/>
            <a:ext cx="5934950" cy="4135120"/>
          </a:xfrm>
        </p:spPr>
        <p:txBody>
          <a:bodyPr>
            <a:normAutofit/>
          </a:bodyPr>
          <a:lstStyle/>
          <a:p>
            <a:pPr algn="l"/>
            <a:r>
              <a:rPr lang="en-US" sz="1400" b="1" dirty="0" err="1" smtClean="0">
                <a:latin typeface="Arial" panose="020B0604020202020204" pitchFamily="34" charset="0"/>
                <a:cs typeface="Arial" panose="020B0604020202020204" pitchFamily="34" charset="0"/>
              </a:rPr>
              <a:t>Swimlane</a:t>
            </a:r>
            <a:r>
              <a:rPr lang="en-US" sz="1400" b="1" dirty="0" smtClean="0">
                <a:latin typeface="Arial" panose="020B0604020202020204" pitchFamily="34" charset="0"/>
                <a:cs typeface="Arial" panose="020B0604020202020204" pitchFamily="34" charset="0"/>
              </a:rPr>
              <a:t> Summary</a:t>
            </a:r>
          </a:p>
          <a:p>
            <a:pPr algn="l"/>
            <a:r>
              <a:rPr lang="en-US" sz="1400" b="1" dirty="0" smtClean="0">
                <a:latin typeface="Arial" panose="020B0604020202020204" pitchFamily="34" charset="0"/>
                <a:cs typeface="Arial" panose="020B0604020202020204" pitchFamily="34" charset="0"/>
              </a:rPr>
              <a:t>Vehicle Owner:</a:t>
            </a:r>
            <a:r>
              <a:rPr lang="en-US" sz="1400" dirty="0" smtClean="0">
                <a:latin typeface="Arial" panose="020B0604020202020204" pitchFamily="34" charset="0"/>
                <a:cs typeface="Arial" panose="020B0604020202020204" pitchFamily="34" charset="0"/>
              </a:rPr>
              <a:t/>
            </a:r>
            <a:br>
              <a:rPr lang="en-US" sz="1400" dirty="0" smtClean="0">
                <a:latin typeface="Arial" panose="020B0604020202020204" pitchFamily="34" charset="0"/>
                <a:cs typeface="Arial" panose="020B0604020202020204" pitchFamily="34" charset="0"/>
              </a:rPr>
            </a:br>
            <a:r>
              <a:rPr lang="en-US" sz="1400" dirty="0" smtClean="0">
                <a:latin typeface="Arial" panose="020B0604020202020204" pitchFamily="34" charset="0"/>
                <a:cs typeface="Arial" panose="020B0604020202020204" pitchFamily="34" charset="0"/>
              </a:rPr>
              <a:t>Report stolen vehicle → Submit theft alert → Receive recovery notification</a:t>
            </a:r>
          </a:p>
          <a:p>
            <a:pPr algn="l"/>
            <a:r>
              <a:rPr lang="en-US" sz="1400" b="1" dirty="0" smtClean="0">
                <a:latin typeface="Arial" panose="020B0604020202020204" pitchFamily="34" charset="0"/>
                <a:cs typeface="Arial" panose="020B0604020202020204" pitchFamily="34" charset="0"/>
              </a:rPr>
              <a:t>Tracking System:</a:t>
            </a:r>
            <a:r>
              <a:rPr lang="en-US" sz="1400" dirty="0" smtClean="0">
                <a:latin typeface="Arial" panose="020B0604020202020204" pitchFamily="34" charset="0"/>
                <a:cs typeface="Arial" panose="020B0604020202020204" pitchFamily="34" charset="0"/>
              </a:rPr>
              <a:t/>
            </a:r>
            <a:br>
              <a:rPr lang="en-US" sz="1400" dirty="0" smtClean="0">
                <a:latin typeface="Arial" panose="020B0604020202020204" pitchFamily="34" charset="0"/>
                <a:cs typeface="Arial" panose="020B0604020202020204" pitchFamily="34" charset="0"/>
              </a:rPr>
            </a:br>
            <a:r>
              <a:rPr lang="en-US" sz="1400" dirty="0" smtClean="0">
                <a:latin typeface="Arial" panose="020B0604020202020204" pitchFamily="34" charset="0"/>
                <a:cs typeface="Arial" panose="020B0604020202020204" pitchFamily="34" charset="0"/>
              </a:rPr>
              <a:t>Validate report → Activate GPS → Track location → Send alert to police → Record recovery</a:t>
            </a:r>
          </a:p>
          <a:p>
            <a:pPr algn="l"/>
            <a:r>
              <a:rPr lang="en-US" sz="1400" b="1" dirty="0" smtClean="0">
                <a:latin typeface="Arial" panose="020B0604020202020204" pitchFamily="34" charset="0"/>
                <a:cs typeface="Arial" panose="020B0604020202020204" pitchFamily="34" charset="0"/>
              </a:rPr>
              <a:t>Police Department:</a:t>
            </a:r>
            <a:r>
              <a:rPr lang="en-US" sz="1400" dirty="0" smtClean="0">
                <a:latin typeface="Arial" panose="020B0604020202020204" pitchFamily="34" charset="0"/>
                <a:cs typeface="Arial" panose="020B0604020202020204" pitchFamily="34" charset="0"/>
              </a:rPr>
              <a:t/>
            </a:r>
            <a:br>
              <a:rPr lang="en-US" sz="1400" dirty="0" smtClean="0">
                <a:latin typeface="Arial" panose="020B0604020202020204" pitchFamily="34" charset="0"/>
                <a:cs typeface="Arial" panose="020B0604020202020204" pitchFamily="34" charset="0"/>
              </a:rPr>
            </a:br>
            <a:r>
              <a:rPr lang="en-US" sz="1400" dirty="0" smtClean="0">
                <a:latin typeface="Arial" panose="020B0604020202020204" pitchFamily="34" charset="0"/>
                <a:cs typeface="Arial" panose="020B0604020202020204" pitchFamily="34" charset="0"/>
              </a:rPr>
              <a:t>Receive alert → Prioritize case → Dispatch unit → Recover vehicle → Confirm recovery</a:t>
            </a:r>
          </a:p>
          <a:p>
            <a:pPr algn="l"/>
            <a:r>
              <a:rPr lang="en-US" sz="1400" b="1" dirty="0" smtClean="0">
                <a:latin typeface="Arial" panose="020B0604020202020204" pitchFamily="34" charset="0"/>
                <a:cs typeface="Arial" panose="020B0604020202020204" pitchFamily="34" charset="0"/>
              </a:rPr>
              <a:t>Flow:</a:t>
            </a:r>
            <a:r>
              <a:rPr lang="en-US" sz="1400" dirty="0" smtClean="0">
                <a:latin typeface="Arial" panose="020B0604020202020204" pitchFamily="34" charset="0"/>
                <a:cs typeface="Arial" panose="020B0604020202020204" pitchFamily="34" charset="0"/>
              </a:rPr>
              <a:t/>
            </a:r>
            <a:br>
              <a:rPr lang="en-US" sz="1400" dirty="0" smtClean="0">
                <a:latin typeface="Arial" panose="020B0604020202020204" pitchFamily="34" charset="0"/>
                <a:cs typeface="Arial" panose="020B0604020202020204" pitchFamily="34" charset="0"/>
              </a:rPr>
            </a:br>
            <a:r>
              <a:rPr lang="en-US" sz="1400" dirty="0" smtClean="0">
                <a:latin typeface="Arial" panose="020B0604020202020204" pitchFamily="34" charset="0"/>
                <a:cs typeface="Arial" panose="020B0604020202020204" pitchFamily="34" charset="0"/>
              </a:rPr>
              <a:t>Theft report </a:t>
            </a:r>
            <a:r>
              <a:rPr lang="en-US" sz="1400" dirty="0" smtClean="0">
                <a:latin typeface="Arial" panose="020B0604020202020204" pitchFamily="34" charset="0"/>
                <a:cs typeface="Arial" panose="020B0604020202020204" pitchFamily="34" charset="0"/>
                <a:sym typeface="Wingdings" panose="05000000000000000000" pitchFamily="2" charset="2"/>
              </a:rPr>
              <a:t></a:t>
            </a:r>
            <a:r>
              <a:rPr lang="en-US" sz="1400" dirty="0" smtClean="0">
                <a:latin typeface="Arial" panose="020B0604020202020204" pitchFamily="34" charset="0"/>
                <a:cs typeface="Arial" panose="020B0604020202020204" pitchFamily="34" charset="0"/>
              </a:rPr>
              <a:t> Verification → GPS activation → Location tracking → Police alert → Recovery → Owner notification</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4951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Arial" panose="020B0604020202020204" pitchFamily="34" charset="0"/>
                <a:cs typeface="Arial" panose="020B0604020202020204" pitchFamily="34" charset="0"/>
              </a:rPr>
              <a:t>Technical</a:t>
            </a:r>
            <a:endParaRPr lang="en-US" sz="3200" dirty="0">
              <a:latin typeface="Arial" panose="020B0604020202020204" pitchFamily="34" charset="0"/>
              <a:cs typeface="Arial" panose="020B0604020202020204" pitchFamily="34" charset="0"/>
            </a:endParaRPr>
          </a:p>
        </p:txBody>
      </p:sp>
      <p:sp>
        <p:nvSpPr>
          <p:cNvPr id="4" name="Rectangle 1"/>
          <p:cNvSpPr>
            <a:spLocks noGrp="1" noChangeArrowheads="1"/>
          </p:cNvSpPr>
          <p:nvPr>
            <p:ph idx="1"/>
          </p:nvPr>
        </p:nvSpPr>
        <p:spPr bwMode="auto">
          <a:xfrm>
            <a:off x="913795" y="2820247"/>
            <a:ext cx="1072956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1400" dirty="0">
                <a:effectLst/>
                <a:latin typeface="Arial" panose="020B0604020202020204" pitchFamily="34" charset="0"/>
              </a:rPr>
              <a:t>We used Oracle XE 21c for the database backend. PL/SQL procedures handle updates securely, while triggers automate auditing and enforce business rules. For example, duplicate alerts or inserts during weekdays/holidays are automatically prevented:</a:t>
            </a:r>
          </a:p>
          <a:p>
            <a:pPr marL="0" lvl="0" indent="0" eaLnBrk="0" fontAlgn="base" hangingPunct="0">
              <a:lnSpc>
                <a:spcPct val="100000"/>
              </a:lnSpc>
              <a:spcBef>
                <a:spcPct val="0"/>
              </a:spcBef>
              <a:spcAft>
                <a:spcPct val="0"/>
              </a:spcAft>
              <a:buFontTx/>
              <a:buChar char="•"/>
            </a:pPr>
            <a:endParaRPr lang="en-US" altLang="en-US" sz="1400" dirty="0">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400" dirty="0">
                <a:effectLst/>
                <a:latin typeface="Arial" panose="020B0604020202020204" pitchFamily="34" charset="0"/>
              </a:rPr>
              <a:t>Oracle Database XE 21c</a:t>
            </a:r>
          </a:p>
          <a:p>
            <a:pPr marL="0" lvl="0" indent="0" eaLnBrk="0" fontAlgn="base" hangingPunct="0">
              <a:lnSpc>
                <a:spcPct val="100000"/>
              </a:lnSpc>
              <a:spcBef>
                <a:spcPct val="0"/>
              </a:spcBef>
              <a:spcAft>
                <a:spcPct val="0"/>
              </a:spcAft>
              <a:buFontTx/>
              <a:buChar char="•"/>
            </a:pPr>
            <a:endParaRPr lang="en-US" altLang="en-US" sz="1400" dirty="0">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400" dirty="0">
                <a:effectLst/>
                <a:latin typeface="Arial" panose="020B0604020202020204" pitchFamily="34" charset="0"/>
              </a:rPr>
              <a:t>PL/SQL procedures for secure updates</a:t>
            </a:r>
          </a:p>
          <a:p>
            <a:pPr marL="0" lvl="0" indent="0" eaLnBrk="0" fontAlgn="base" hangingPunct="0">
              <a:lnSpc>
                <a:spcPct val="100000"/>
              </a:lnSpc>
              <a:spcBef>
                <a:spcPct val="0"/>
              </a:spcBef>
              <a:spcAft>
                <a:spcPct val="0"/>
              </a:spcAft>
              <a:buFontTx/>
              <a:buChar char="•"/>
            </a:pPr>
            <a:endParaRPr lang="en-US" altLang="en-US" sz="1400" dirty="0">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400" dirty="0">
                <a:effectLst/>
                <a:latin typeface="Arial" panose="020B0604020202020204" pitchFamily="34" charset="0"/>
              </a:rPr>
              <a:t>Triggers for automatic auditing and DML validation</a:t>
            </a:r>
          </a:p>
          <a:p>
            <a:pPr marL="0" lvl="0" indent="0" eaLnBrk="0" fontAlgn="base" hangingPunct="0">
              <a:lnSpc>
                <a:spcPct val="100000"/>
              </a:lnSpc>
              <a:spcBef>
                <a:spcPct val="0"/>
              </a:spcBef>
              <a:spcAft>
                <a:spcPct val="0"/>
              </a:spcAft>
              <a:buFontTx/>
              <a:buChar char="•"/>
            </a:pPr>
            <a:endParaRPr lang="en-US" altLang="en-US" sz="1400" dirty="0">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400" dirty="0">
                <a:effectLst/>
                <a:latin typeface="Arial" panose="020B0604020202020204" pitchFamily="34" charset="0"/>
              </a:rPr>
              <a:t>Automated rule enforcement (weekdays, holidays, duplicates)</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6265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954" y="152400"/>
            <a:ext cx="5929773" cy="1244600"/>
          </a:xfrm>
        </p:spPr>
        <p:txBody>
          <a:bodyPr/>
          <a:lstStyle/>
          <a:p>
            <a:r>
              <a:rPr lang="en-US" dirty="0">
                <a:latin typeface="Arial" panose="020B0604020202020204" pitchFamily="34" charset="0"/>
                <a:cs typeface="Arial" panose="020B0604020202020204" pitchFamily="34" charset="0"/>
              </a:rPr>
              <a:t>Advanced</a:t>
            </a:r>
            <a:r>
              <a:rPr lang="en-US" dirty="0"/>
              <a:t> </a:t>
            </a:r>
            <a:r>
              <a:rPr lang="en-US" dirty="0">
                <a:latin typeface="Arial" panose="020B0604020202020204" pitchFamily="34" charset="0"/>
                <a:cs typeface="Arial" panose="020B0604020202020204" pitchFamily="34" charset="0"/>
              </a:rPr>
              <a:t>Features</a:t>
            </a:r>
          </a:p>
        </p:txBody>
      </p:sp>
      <p:pic>
        <p:nvPicPr>
          <p:cNvPr id="5" name="Picture Placeholder 4"/>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182" t="-608" r="-367" b="-912"/>
          <a:stretch/>
        </p:blipFill>
        <p:spPr>
          <a:xfrm>
            <a:off x="6583680" y="50800"/>
            <a:ext cx="5567680" cy="6786880"/>
          </a:xfrm>
        </p:spPr>
      </p:pic>
      <p:sp>
        <p:nvSpPr>
          <p:cNvPr id="4" name="Text Placeholder 3"/>
          <p:cNvSpPr>
            <a:spLocks noGrp="1"/>
          </p:cNvSpPr>
          <p:nvPr>
            <p:ph type="body" sz="half" idx="2"/>
          </p:nvPr>
        </p:nvSpPr>
        <p:spPr>
          <a:xfrm>
            <a:off x="415954" y="1686560"/>
            <a:ext cx="5934950" cy="4099560"/>
          </a:xfrm>
        </p:spPr>
        <p:txBody>
          <a:bodyPr>
            <a:normAutofit/>
          </a:bodyPr>
          <a:lstStyle/>
          <a:p>
            <a:pPr lvl="0" algn="l" eaLnBrk="0" fontAlgn="base" hangingPunct="0">
              <a:lnSpc>
                <a:spcPct val="100000"/>
              </a:lnSpc>
              <a:spcBef>
                <a:spcPct val="0"/>
              </a:spcBef>
              <a:spcAft>
                <a:spcPct val="0"/>
              </a:spcAft>
              <a:buFontTx/>
              <a:buChar char="•"/>
            </a:pPr>
            <a:r>
              <a:rPr lang="en-US" altLang="en-US" sz="1400" b="1" dirty="0">
                <a:effectLst/>
                <a:latin typeface="Arial" panose="020B0604020202020204" pitchFamily="34" charset="0"/>
                <a:cs typeface="Arial" panose="020B0604020202020204" pitchFamily="34" charset="0"/>
              </a:rPr>
              <a:t>Compound Trigger:</a:t>
            </a:r>
            <a:r>
              <a:rPr lang="en-US" altLang="en-US" sz="1400" dirty="0">
                <a:effectLst/>
                <a:latin typeface="Arial" panose="020B0604020202020204" pitchFamily="34" charset="0"/>
                <a:cs typeface="Arial" panose="020B0604020202020204" pitchFamily="34" charset="0"/>
              </a:rPr>
              <a:t> Logs both allowed and denied DML </a:t>
            </a:r>
            <a:r>
              <a:rPr lang="en-US" altLang="en-US" sz="1400" dirty="0" smtClean="0">
                <a:effectLst/>
                <a:latin typeface="Arial" panose="020B0604020202020204" pitchFamily="34" charset="0"/>
                <a:cs typeface="Arial" panose="020B0604020202020204" pitchFamily="34" charset="0"/>
              </a:rPr>
              <a:t>attempts</a:t>
            </a:r>
          </a:p>
          <a:p>
            <a:pPr lvl="0" algn="l" eaLnBrk="0" fontAlgn="base" hangingPunct="0">
              <a:lnSpc>
                <a:spcPct val="100000"/>
              </a:lnSpc>
              <a:spcBef>
                <a:spcPct val="0"/>
              </a:spcBef>
              <a:spcAft>
                <a:spcPct val="0"/>
              </a:spcAft>
              <a:buFontTx/>
              <a:buChar char="•"/>
            </a:pPr>
            <a:endParaRPr lang="en-US" altLang="en-US" sz="1400" dirty="0">
              <a:effectLst/>
              <a:latin typeface="Arial" panose="020B0604020202020204" pitchFamily="34" charset="0"/>
              <a:cs typeface="Arial" panose="020B0604020202020204" pitchFamily="34" charset="0"/>
            </a:endParaRPr>
          </a:p>
          <a:p>
            <a:pPr lvl="0" algn="l" eaLnBrk="0" fontAlgn="base" hangingPunct="0">
              <a:lnSpc>
                <a:spcPct val="100000"/>
              </a:lnSpc>
              <a:spcBef>
                <a:spcPct val="0"/>
              </a:spcBef>
              <a:spcAft>
                <a:spcPct val="0"/>
              </a:spcAft>
              <a:buFontTx/>
              <a:buChar char="•"/>
            </a:pPr>
            <a:r>
              <a:rPr lang="en-US" altLang="en-US" sz="1400" b="1" dirty="0">
                <a:effectLst/>
                <a:latin typeface="Arial" panose="020B0604020202020204" pitchFamily="34" charset="0"/>
                <a:cs typeface="Arial" panose="020B0604020202020204" pitchFamily="34" charset="0"/>
              </a:rPr>
              <a:t>Security Rules</a:t>
            </a:r>
            <a:r>
              <a:rPr lang="en-US" altLang="en-US" sz="1400" b="1" dirty="0" smtClean="0">
                <a:effectLst/>
                <a:latin typeface="Arial" panose="020B0604020202020204" pitchFamily="34" charset="0"/>
                <a:cs typeface="Arial" panose="020B0604020202020204" pitchFamily="34" charset="0"/>
              </a:rPr>
              <a:t>:</a:t>
            </a:r>
          </a:p>
          <a:p>
            <a:pPr lvl="0" algn="l" eaLnBrk="0" fontAlgn="base" hangingPunct="0">
              <a:lnSpc>
                <a:spcPct val="100000"/>
              </a:lnSpc>
              <a:spcBef>
                <a:spcPct val="0"/>
              </a:spcBef>
              <a:spcAft>
                <a:spcPct val="0"/>
              </a:spcAft>
              <a:buFontTx/>
              <a:buChar char="•"/>
            </a:pPr>
            <a:endParaRPr lang="en-US" altLang="en-US" sz="1400" dirty="0">
              <a:effectLst/>
              <a:latin typeface="Arial" panose="020B0604020202020204" pitchFamily="34" charset="0"/>
              <a:cs typeface="Arial" panose="020B0604020202020204" pitchFamily="34" charset="0"/>
            </a:endParaRPr>
          </a:p>
          <a:p>
            <a:pPr lvl="0" algn="l" eaLnBrk="0" fontAlgn="base" hangingPunct="0">
              <a:lnSpc>
                <a:spcPct val="100000"/>
              </a:lnSpc>
              <a:spcBef>
                <a:spcPct val="0"/>
              </a:spcBef>
              <a:spcAft>
                <a:spcPct val="0"/>
              </a:spcAft>
              <a:buFontTx/>
              <a:buChar char="•"/>
            </a:pPr>
            <a:r>
              <a:rPr lang="en-US" altLang="en-US" sz="1400" dirty="0">
                <a:effectLst/>
                <a:latin typeface="Arial" panose="020B0604020202020204" pitchFamily="34" charset="0"/>
                <a:cs typeface="Arial" panose="020B0604020202020204" pitchFamily="34" charset="0"/>
              </a:rPr>
              <a:t>No weekday </a:t>
            </a:r>
            <a:r>
              <a:rPr lang="en-US" altLang="en-US" sz="1400" dirty="0" smtClean="0">
                <a:effectLst/>
                <a:latin typeface="Arial" panose="020B0604020202020204" pitchFamily="34" charset="0"/>
                <a:cs typeface="Arial" panose="020B0604020202020204" pitchFamily="34" charset="0"/>
              </a:rPr>
              <a:t>alerts</a:t>
            </a:r>
          </a:p>
          <a:p>
            <a:pPr lvl="0" algn="l" eaLnBrk="0" fontAlgn="base" hangingPunct="0">
              <a:lnSpc>
                <a:spcPct val="100000"/>
              </a:lnSpc>
              <a:spcBef>
                <a:spcPct val="0"/>
              </a:spcBef>
              <a:spcAft>
                <a:spcPct val="0"/>
              </a:spcAft>
              <a:buFontTx/>
              <a:buChar char="•"/>
            </a:pPr>
            <a:endParaRPr lang="en-US" altLang="en-US" sz="1400" dirty="0">
              <a:effectLst/>
              <a:latin typeface="Arial" panose="020B0604020202020204" pitchFamily="34" charset="0"/>
              <a:cs typeface="Arial" panose="020B0604020202020204" pitchFamily="34" charset="0"/>
            </a:endParaRPr>
          </a:p>
          <a:p>
            <a:pPr lvl="0" algn="l" eaLnBrk="0" fontAlgn="base" hangingPunct="0">
              <a:lnSpc>
                <a:spcPct val="100000"/>
              </a:lnSpc>
              <a:spcBef>
                <a:spcPct val="0"/>
              </a:spcBef>
              <a:spcAft>
                <a:spcPct val="0"/>
              </a:spcAft>
              <a:buFontTx/>
              <a:buChar char="•"/>
            </a:pPr>
            <a:r>
              <a:rPr lang="en-US" altLang="en-US" sz="1400" dirty="0">
                <a:effectLst/>
                <a:latin typeface="Arial" panose="020B0604020202020204" pitchFamily="34" charset="0"/>
                <a:cs typeface="Arial" panose="020B0604020202020204" pitchFamily="34" charset="0"/>
              </a:rPr>
              <a:t>Duplicate-alert </a:t>
            </a:r>
            <a:r>
              <a:rPr lang="en-US" altLang="en-US" sz="1400" dirty="0" smtClean="0">
                <a:effectLst/>
                <a:latin typeface="Arial" panose="020B0604020202020204" pitchFamily="34" charset="0"/>
                <a:cs typeface="Arial" panose="020B0604020202020204" pitchFamily="34" charset="0"/>
              </a:rPr>
              <a:t>prevention</a:t>
            </a:r>
          </a:p>
          <a:p>
            <a:pPr lvl="0" algn="l" eaLnBrk="0" fontAlgn="base" hangingPunct="0">
              <a:lnSpc>
                <a:spcPct val="100000"/>
              </a:lnSpc>
              <a:spcBef>
                <a:spcPct val="0"/>
              </a:spcBef>
              <a:spcAft>
                <a:spcPct val="0"/>
              </a:spcAft>
              <a:buFontTx/>
              <a:buChar char="•"/>
            </a:pPr>
            <a:endParaRPr lang="en-US" altLang="en-US" sz="1400" dirty="0">
              <a:effectLst/>
              <a:latin typeface="Arial" panose="020B0604020202020204" pitchFamily="34" charset="0"/>
              <a:cs typeface="Arial" panose="020B0604020202020204" pitchFamily="34" charset="0"/>
            </a:endParaRPr>
          </a:p>
          <a:p>
            <a:pPr lvl="0" algn="l" eaLnBrk="0" fontAlgn="base" hangingPunct="0">
              <a:lnSpc>
                <a:spcPct val="100000"/>
              </a:lnSpc>
              <a:spcBef>
                <a:spcPct val="0"/>
              </a:spcBef>
              <a:spcAft>
                <a:spcPct val="0"/>
              </a:spcAft>
              <a:buFontTx/>
              <a:buChar char="•"/>
            </a:pPr>
            <a:r>
              <a:rPr lang="en-US" altLang="en-US" sz="1400" dirty="0">
                <a:effectLst/>
                <a:latin typeface="Arial" panose="020B0604020202020204" pitchFamily="34" charset="0"/>
                <a:cs typeface="Arial" panose="020B0604020202020204" pitchFamily="34" charset="0"/>
              </a:rPr>
              <a:t>Holiday </a:t>
            </a:r>
            <a:r>
              <a:rPr lang="en-US" altLang="en-US" sz="1400" dirty="0" smtClean="0">
                <a:effectLst/>
                <a:latin typeface="Arial" panose="020B0604020202020204" pitchFamily="34" charset="0"/>
                <a:cs typeface="Arial" panose="020B0604020202020204" pitchFamily="34" charset="0"/>
              </a:rPr>
              <a:t>restrictions</a:t>
            </a:r>
          </a:p>
          <a:p>
            <a:pPr lvl="0" algn="l" eaLnBrk="0" fontAlgn="base" hangingPunct="0">
              <a:lnSpc>
                <a:spcPct val="100000"/>
              </a:lnSpc>
              <a:spcBef>
                <a:spcPct val="0"/>
              </a:spcBef>
              <a:spcAft>
                <a:spcPct val="0"/>
              </a:spcAft>
              <a:buFontTx/>
              <a:buChar char="•"/>
            </a:pPr>
            <a:endParaRPr lang="en-US" altLang="en-US" sz="1400" dirty="0">
              <a:effectLst/>
              <a:latin typeface="Arial" panose="020B0604020202020204" pitchFamily="34" charset="0"/>
              <a:cs typeface="Arial" panose="020B0604020202020204" pitchFamily="34" charset="0"/>
            </a:endParaRPr>
          </a:p>
          <a:p>
            <a:pPr lvl="0" algn="l" eaLnBrk="0" fontAlgn="base" hangingPunct="0">
              <a:lnSpc>
                <a:spcPct val="100000"/>
              </a:lnSpc>
              <a:spcBef>
                <a:spcPct val="0"/>
              </a:spcBef>
              <a:spcAft>
                <a:spcPct val="0"/>
              </a:spcAft>
              <a:buFontTx/>
              <a:buChar char="•"/>
            </a:pPr>
            <a:r>
              <a:rPr lang="en-US" altLang="en-US" sz="1400" b="1" dirty="0">
                <a:effectLst/>
                <a:latin typeface="Arial" panose="020B0604020202020204" pitchFamily="34" charset="0"/>
                <a:cs typeface="Arial" panose="020B0604020202020204" pitchFamily="34" charset="0"/>
              </a:rPr>
              <a:t>Autonomous Transactions:</a:t>
            </a:r>
            <a:r>
              <a:rPr lang="en-US" altLang="en-US" sz="1400" dirty="0">
                <a:effectLst/>
                <a:latin typeface="Arial" panose="020B0604020202020204" pitchFamily="34" charset="0"/>
                <a:cs typeface="Arial" panose="020B0604020202020204" pitchFamily="34" charset="0"/>
              </a:rPr>
              <a:t> Ensures audit logging even during </a:t>
            </a:r>
            <a:r>
              <a:rPr lang="en-US" altLang="en-US" sz="1400" dirty="0" smtClean="0">
                <a:effectLst/>
                <a:latin typeface="Arial" panose="020B0604020202020204" pitchFamily="34" charset="0"/>
                <a:cs typeface="Arial" panose="020B0604020202020204" pitchFamily="34" charset="0"/>
              </a:rPr>
              <a:t>failures</a:t>
            </a:r>
          </a:p>
          <a:p>
            <a:pPr lvl="0" algn="l" eaLnBrk="0" fontAlgn="base" hangingPunct="0">
              <a:lnSpc>
                <a:spcPct val="100000"/>
              </a:lnSpc>
              <a:spcBef>
                <a:spcPct val="0"/>
              </a:spcBef>
              <a:spcAft>
                <a:spcPct val="0"/>
              </a:spcAft>
              <a:buFontTx/>
              <a:buChar char="•"/>
            </a:pPr>
            <a:endParaRPr lang="en-US" altLang="en-US" sz="1400" dirty="0">
              <a:effectLst/>
              <a:latin typeface="Arial" panose="020B0604020202020204" pitchFamily="34" charset="0"/>
              <a:cs typeface="Arial" panose="020B0604020202020204" pitchFamily="34" charset="0"/>
            </a:endParaRPr>
          </a:p>
          <a:p>
            <a:pPr lvl="0" algn="l" eaLnBrk="0" fontAlgn="base" hangingPunct="0">
              <a:lnSpc>
                <a:spcPct val="100000"/>
              </a:lnSpc>
              <a:spcBef>
                <a:spcPct val="0"/>
              </a:spcBef>
              <a:spcAft>
                <a:spcPct val="0"/>
              </a:spcAft>
              <a:buFontTx/>
              <a:buChar char="•"/>
            </a:pPr>
            <a:r>
              <a:rPr lang="en-US" altLang="en-US" sz="1400" b="1" dirty="0">
                <a:effectLst/>
                <a:latin typeface="Arial" panose="020B0604020202020204" pitchFamily="34" charset="0"/>
                <a:cs typeface="Arial" panose="020B0604020202020204" pitchFamily="34" charset="0"/>
              </a:rPr>
              <a:t>Error Logging:</a:t>
            </a:r>
            <a:r>
              <a:rPr lang="en-US" altLang="en-US" sz="1400" dirty="0">
                <a:effectLst/>
                <a:latin typeface="Arial" panose="020B0604020202020204" pitchFamily="34" charset="0"/>
                <a:cs typeface="Arial" panose="020B0604020202020204" pitchFamily="34" charset="0"/>
              </a:rPr>
              <a:t> Custom </a:t>
            </a:r>
            <a:r>
              <a:rPr lang="en-US" altLang="en-US" sz="1400" dirty="0" err="1">
                <a:effectLst/>
                <a:latin typeface="Arial" panose="020B0604020202020204" pitchFamily="34" charset="0"/>
                <a:cs typeface="Arial" panose="020B0604020202020204" pitchFamily="34" charset="0"/>
              </a:rPr>
              <a:t>log_error</a:t>
            </a:r>
            <a:r>
              <a:rPr lang="en-US" altLang="en-US" sz="1400" dirty="0">
                <a:effectLst/>
                <a:latin typeface="Arial" panose="020B0604020202020204" pitchFamily="34" charset="0"/>
                <a:cs typeface="Arial" panose="020B0604020202020204" pitchFamily="34" charset="0"/>
              </a:rPr>
              <a:t> </a:t>
            </a:r>
            <a:r>
              <a:rPr lang="en-US" altLang="en-US" sz="1400" dirty="0" smtClean="0">
                <a:effectLst/>
                <a:latin typeface="Arial" panose="020B0604020202020204" pitchFamily="34" charset="0"/>
                <a:cs typeface="Arial" panose="020B0604020202020204" pitchFamily="34" charset="0"/>
              </a:rPr>
              <a:t>procedure</a:t>
            </a:r>
          </a:p>
          <a:p>
            <a:pPr lvl="0" algn="l" eaLnBrk="0" fontAlgn="base" hangingPunct="0">
              <a:lnSpc>
                <a:spcPct val="100000"/>
              </a:lnSpc>
              <a:spcBef>
                <a:spcPct val="0"/>
              </a:spcBef>
              <a:spcAft>
                <a:spcPct val="0"/>
              </a:spcAft>
              <a:buFontTx/>
              <a:buChar char="•"/>
            </a:pPr>
            <a:endParaRPr lang="en-US" altLang="en-US" sz="1400" dirty="0">
              <a:effectLst/>
              <a:latin typeface="Arial" panose="020B0604020202020204" pitchFamily="34" charset="0"/>
              <a:cs typeface="Arial" panose="020B0604020202020204" pitchFamily="34" charset="0"/>
            </a:endParaRPr>
          </a:p>
          <a:p>
            <a:pPr lvl="0" algn="l" eaLnBrk="0" fontAlgn="base" hangingPunct="0">
              <a:lnSpc>
                <a:spcPct val="100000"/>
              </a:lnSpc>
              <a:spcBef>
                <a:spcPct val="0"/>
              </a:spcBef>
              <a:spcAft>
                <a:spcPct val="0"/>
              </a:spcAft>
              <a:buFontTx/>
              <a:buChar char="•"/>
            </a:pPr>
            <a:r>
              <a:rPr lang="en-US" altLang="en-US" sz="1400" b="1" dirty="0">
                <a:effectLst/>
                <a:latin typeface="Arial" panose="020B0604020202020204" pitchFamily="34" charset="0"/>
                <a:cs typeface="Arial" panose="020B0604020202020204" pitchFamily="34" charset="0"/>
              </a:rPr>
              <a:t>Consistent Data Integrity:</a:t>
            </a:r>
            <a:r>
              <a:rPr lang="en-US" altLang="en-US" sz="1400" dirty="0">
                <a:effectLst/>
                <a:latin typeface="Arial" panose="020B0604020202020204" pitchFamily="34" charset="0"/>
                <a:cs typeface="Arial" panose="020B0604020202020204" pitchFamily="34" charset="0"/>
              </a:rPr>
              <a:t> Controlled changes through PL/SQL</a:t>
            </a:r>
          </a:p>
          <a:p>
            <a:endParaRPr lang="en-US" dirty="0"/>
          </a:p>
        </p:txBody>
      </p:sp>
    </p:spTree>
    <p:extLst>
      <p:ext uri="{BB962C8B-B14F-4D97-AF65-F5344CB8AC3E}">
        <p14:creationId xmlns:p14="http://schemas.microsoft.com/office/powerpoint/2010/main" val="1666914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6" y="264160"/>
            <a:ext cx="10353761" cy="1326321"/>
          </a:xfrm>
        </p:spPr>
        <p:txBody>
          <a:bodyPr/>
          <a:lstStyle/>
          <a:p>
            <a:r>
              <a:rPr lang="en-US" dirty="0" smtClean="0">
                <a:latin typeface="Arial" panose="020B0604020202020204" pitchFamily="34" charset="0"/>
                <a:cs typeface="Arial" panose="020B0604020202020204" pitchFamily="34" charset="0"/>
              </a:rPr>
              <a:t>BI</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913795" y="1412240"/>
            <a:ext cx="10353762" cy="5090160"/>
          </a:xfrm>
        </p:spPr>
        <p:txBody>
          <a:bodyPr>
            <a:noAutofit/>
          </a:bodyPr>
          <a:lstStyle/>
          <a:p>
            <a:r>
              <a:rPr lang="en-US" sz="1400" b="1" dirty="0" smtClean="0">
                <a:latin typeface="Arial" panose="020B0604020202020204" pitchFamily="34" charset="0"/>
                <a:cs typeface="Arial" panose="020B0604020202020204" pitchFamily="34" charset="0"/>
              </a:rPr>
              <a:t>Dashboards:</a:t>
            </a:r>
            <a:endParaRPr lang="en-US" sz="1400" dirty="0" smtClean="0">
              <a:latin typeface="Arial" panose="020B0604020202020204" pitchFamily="34" charset="0"/>
              <a:cs typeface="Arial" panose="020B0604020202020204" pitchFamily="34" charset="0"/>
            </a:endParaRPr>
          </a:p>
          <a:p>
            <a:r>
              <a:rPr lang="en-US" sz="1400" dirty="0" smtClean="0">
                <a:latin typeface="Arial" panose="020B0604020202020204" pitchFamily="34" charset="0"/>
                <a:cs typeface="Arial" panose="020B0604020202020204" pitchFamily="34" charset="0"/>
              </a:rPr>
              <a:t>Executive Summary Dashboard</a:t>
            </a:r>
          </a:p>
          <a:p>
            <a:r>
              <a:rPr lang="en-US" sz="1400" dirty="0" smtClean="0">
                <a:latin typeface="Arial" panose="020B0604020202020204" pitchFamily="34" charset="0"/>
                <a:cs typeface="Arial" panose="020B0604020202020204" pitchFamily="34" charset="0"/>
              </a:rPr>
              <a:t>Audit &amp; Compliance Dashboard</a:t>
            </a:r>
          </a:p>
          <a:p>
            <a:r>
              <a:rPr lang="en-US" sz="1400" dirty="0" smtClean="0">
                <a:latin typeface="Arial" panose="020B0604020202020204" pitchFamily="34" charset="0"/>
                <a:cs typeface="Arial" panose="020B0604020202020204" pitchFamily="34" charset="0"/>
              </a:rPr>
              <a:t>Performance Dashboard</a:t>
            </a:r>
          </a:p>
          <a:p>
            <a:r>
              <a:rPr lang="en-US" sz="1400" b="1" dirty="0" smtClean="0">
                <a:latin typeface="Arial" panose="020B0604020202020204" pitchFamily="34" charset="0"/>
                <a:cs typeface="Arial" panose="020B0604020202020204" pitchFamily="34" charset="0"/>
              </a:rPr>
              <a:t>KPIs:</a:t>
            </a:r>
            <a:endParaRPr lang="en-US" sz="1400" dirty="0" smtClean="0">
              <a:latin typeface="Arial" panose="020B0604020202020204" pitchFamily="34" charset="0"/>
              <a:cs typeface="Arial" panose="020B0604020202020204" pitchFamily="34" charset="0"/>
            </a:endParaRPr>
          </a:p>
          <a:p>
            <a:r>
              <a:rPr lang="en-US" sz="1400" dirty="0" smtClean="0">
                <a:latin typeface="Arial" panose="020B0604020202020204" pitchFamily="34" charset="0"/>
                <a:cs typeface="Arial" panose="020B0604020202020204" pitchFamily="34" charset="0"/>
              </a:rPr>
              <a:t>Alerts per day/week</a:t>
            </a:r>
          </a:p>
          <a:p>
            <a:r>
              <a:rPr lang="en-US" sz="1400" dirty="0" smtClean="0">
                <a:latin typeface="Arial" panose="020B0604020202020204" pitchFamily="34" charset="0"/>
                <a:cs typeface="Arial" panose="020B0604020202020204" pitchFamily="34" charset="0"/>
              </a:rPr>
              <a:t>Denied vs allowed alerts</a:t>
            </a:r>
          </a:p>
          <a:p>
            <a:r>
              <a:rPr lang="en-US" sz="1400" dirty="0" smtClean="0">
                <a:latin typeface="Arial" panose="020B0604020202020204" pitchFamily="34" charset="0"/>
                <a:cs typeface="Arial" panose="020B0604020202020204" pitchFamily="34" charset="0"/>
              </a:rPr>
              <a:t>Avg. police response time</a:t>
            </a:r>
          </a:p>
          <a:p>
            <a:r>
              <a:rPr lang="en-US" sz="1400" dirty="0" smtClean="0">
                <a:latin typeface="Arial" panose="020B0604020202020204" pitchFamily="34" charset="0"/>
                <a:cs typeface="Arial" panose="020B0604020202020204" pitchFamily="34" charset="0"/>
              </a:rPr>
              <a:t>% of resolved alerts</a:t>
            </a:r>
          </a:p>
          <a:p>
            <a:r>
              <a:rPr lang="en-US" sz="1400" dirty="0" smtClean="0">
                <a:latin typeface="Arial" panose="020B0604020202020204" pitchFamily="34" charset="0"/>
                <a:cs typeface="Arial" panose="020B0604020202020204" pitchFamily="34" charset="0"/>
              </a:rPr>
              <a:t>Peak alert hours</a:t>
            </a:r>
          </a:p>
          <a:p>
            <a:r>
              <a:rPr lang="en-US" sz="1400" b="1" dirty="0" smtClean="0">
                <a:latin typeface="Arial" panose="020B0604020202020204" pitchFamily="34" charset="0"/>
                <a:cs typeface="Arial" panose="020B0604020202020204" pitchFamily="34" charset="0"/>
              </a:rPr>
              <a:t>Reports:</a:t>
            </a:r>
            <a:endParaRPr lang="en-US" sz="1400" dirty="0" smtClean="0">
              <a:latin typeface="Arial" panose="020B0604020202020204" pitchFamily="34" charset="0"/>
              <a:cs typeface="Arial" panose="020B0604020202020204" pitchFamily="34" charset="0"/>
            </a:endParaRPr>
          </a:p>
          <a:p>
            <a:r>
              <a:rPr lang="en-US" sz="1400" dirty="0" smtClean="0">
                <a:latin typeface="Arial" panose="020B0604020202020204" pitchFamily="34" charset="0"/>
                <a:cs typeface="Arial" panose="020B0604020202020204" pitchFamily="34" charset="0"/>
              </a:rPr>
              <a:t>Daily alert summary</a:t>
            </a:r>
          </a:p>
          <a:p>
            <a:r>
              <a:rPr lang="en-US" sz="1400" dirty="0" smtClean="0">
                <a:latin typeface="Arial" panose="020B0604020202020204" pitchFamily="34" charset="0"/>
                <a:cs typeface="Arial" panose="020B0604020202020204" pitchFamily="34" charset="0"/>
              </a:rPr>
              <a:t>Weekly trends</a:t>
            </a:r>
          </a:p>
          <a:p>
            <a:r>
              <a:rPr lang="en-US" sz="1400" dirty="0" smtClean="0">
                <a:latin typeface="Arial" panose="020B0604020202020204" pitchFamily="34" charset="0"/>
                <a:cs typeface="Arial" panose="020B0604020202020204" pitchFamily="34" charset="0"/>
              </a:rPr>
              <a:t>Monthly executive insights</a:t>
            </a:r>
          </a:p>
          <a:p>
            <a:endParaRPr lang="en-US" sz="1200" dirty="0"/>
          </a:p>
        </p:txBody>
      </p:sp>
    </p:spTree>
    <p:extLst>
      <p:ext uri="{BB962C8B-B14F-4D97-AF65-F5344CB8AC3E}">
        <p14:creationId xmlns:p14="http://schemas.microsoft.com/office/powerpoint/2010/main" val="1486731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4" y="670560"/>
            <a:ext cx="5929773" cy="1275080"/>
          </a:xfrm>
        </p:spPr>
        <p:txBody>
          <a:bodyPr/>
          <a:lstStyle/>
          <a:p>
            <a:r>
              <a:rPr lang="en-US" dirty="0" smtClean="0">
                <a:latin typeface="Arial" panose="020B0604020202020204" pitchFamily="34" charset="0"/>
                <a:cs typeface="Arial" panose="020B0604020202020204" pitchFamily="34" charset="0"/>
              </a:rPr>
              <a:t>Results &amp; Testing</a:t>
            </a:r>
            <a:endParaRPr lang="en-US" dirty="0">
              <a:latin typeface="Arial" panose="020B0604020202020204" pitchFamily="34" charset="0"/>
              <a:cs typeface="Arial" panose="020B0604020202020204" pitchFamily="34" charset="0"/>
            </a:endParaRPr>
          </a:p>
        </p:txBody>
      </p:sp>
      <p:pic>
        <p:nvPicPr>
          <p:cNvPr id="6" name="Picture Placeholder 5"/>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578" t="-769" r="-578" b="-615"/>
          <a:stretch/>
        </p:blipFill>
        <p:spPr>
          <a:xfrm>
            <a:off x="6786880" y="121920"/>
            <a:ext cx="5334000" cy="6695440"/>
          </a:xfrm>
        </p:spPr>
      </p:pic>
      <p:sp>
        <p:nvSpPr>
          <p:cNvPr id="4" name="Text Placeholder 3"/>
          <p:cNvSpPr>
            <a:spLocks noGrp="1"/>
          </p:cNvSpPr>
          <p:nvPr>
            <p:ph type="body" sz="half" idx="2"/>
          </p:nvPr>
        </p:nvSpPr>
        <p:spPr>
          <a:xfrm>
            <a:off x="913794" y="2153920"/>
            <a:ext cx="5934950" cy="3637280"/>
          </a:xfrm>
        </p:spPr>
        <p:txBody>
          <a:bodyPr>
            <a:normAutofit/>
          </a:bodyPr>
          <a:lstStyle/>
          <a:p>
            <a:pPr lvl="0" algn="l" eaLnBrk="0" fontAlgn="base" hangingPunct="0">
              <a:lnSpc>
                <a:spcPct val="100000"/>
              </a:lnSpc>
              <a:spcBef>
                <a:spcPct val="0"/>
              </a:spcBef>
              <a:spcAft>
                <a:spcPct val="0"/>
              </a:spcAft>
              <a:buFontTx/>
              <a:buChar char="•"/>
            </a:pPr>
            <a:r>
              <a:rPr lang="en-US" altLang="en-US" dirty="0">
                <a:latin typeface="Arial" panose="020B0604020202020204" pitchFamily="34" charset="0"/>
              </a:rPr>
              <a:t>Successful creation of all tables, triggers, and procedures</a:t>
            </a:r>
          </a:p>
          <a:p>
            <a:pPr lvl="0" algn="l" eaLnBrk="0" fontAlgn="base" hangingPunct="0">
              <a:lnSpc>
                <a:spcPct val="100000"/>
              </a:lnSpc>
              <a:spcBef>
                <a:spcPct val="0"/>
              </a:spcBef>
              <a:spcAft>
                <a:spcPct val="0"/>
              </a:spcAft>
              <a:buFontTx/>
              <a:buChar char="•"/>
            </a:pPr>
            <a:r>
              <a:rPr lang="en-US" altLang="en-US" dirty="0">
                <a:latin typeface="Arial" panose="020B0604020202020204" pitchFamily="34" charset="0"/>
              </a:rPr>
              <a:t>Audit log captures every allowed/denied action</a:t>
            </a:r>
          </a:p>
          <a:p>
            <a:pPr lvl="0" algn="l" eaLnBrk="0" fontAlgn="base" hangingPunct="0">
              <a:lnSpc>
                <a:spcPct val="100000"/>
              </a:lnSpc>
              <a:spcBef>
                <a:spcPct val="0"/>
              </a:spcBef>
              <a:spcAft>
                <a:spcPct val="0"/>
              </a:spcAft>
              <a:buFontTx/>
              <a:buChar char="•"/>
            </a:pPr>
            <a:r>
              <a:rPr lang="en-US" altLang="en-US" dirty="0">
                <a:latin typeface="Arial" panose="020B0604020202020204" pitchFamily="34" charset="0"/>
              </a:rPr>
              <a:t>Duplicate-alert rule tested and validated</a:t>
            </a:r>
          </a:p>
          <a:p>
            <a:pPr lvl="0" algn="l" eaLnBrk="0" fontAlgn="base" hangingPunct="0">
              <a:lnSpc>
                <a:spcPct val="100000"/>
              </a:lnSpc>
              <a:spcBef>
                <a:spcPct val="0"/>
              </a:spcBef>
              <a:spcAft>
                <a:spcPct val="0"/>
              </a:spcAft>
              <a:buFontTx/>
              <a:buChar char="•"/>
            </a:pPr>
            <a:r>
              <a:rPr lang="en-US" altLang="en-US" dirty="0">
                <a:latin typeface="Arial" panose="020B0604020202020204" pitchFamily="34" charset="0"/>
              </a:rPr>
              <a:t>Weekday/holiday restrictions working correctly</a:t>
            </a:r>
          </a:p>
          <a:p>
            <a:pPr lvl="0" algn="l" eaLnBrk="0" fontAlgn="base" hangingPunct="0">
              <a:lnSpc>
                <a:spcPct val="100000"/>
              </a:lnSpc>
              <a:spcBef>
                <a:spcPct val="0"/>
              </a:spcBef>
              <a:spcAft>
                <a:spcPct val="0"/>
              </a:spcAft>
              <a:buFontTx/>
              <a:buChar char="•"/>
            </a:pPr>
            <a:r>
              <a:rPr lang="en-US" altLang="en-US" dirty="0">
                <a:latin typeface="Arial" panose="020B0604020202020204" pitchFamily="34" charset="0"/>
              </a:rPr>
              <a:t>Sample screenshots:</a:t>
            </a:r>
          </a:p>
          <a:p>
            <a:pPr lvl="0" algn="l" eaLnBrk="0" fontAlgn="base" hangingPunct="0">
              <a:lnSpc>
                <a:spcPct val="100000"/>
              </a:lnSpc>
              <a:spcBef>
                <a:spcPct val="0"/>
              </a:spcBef>
              <a:spcAft>
                <a:spcPct val="0"/>
              </a:spcAft>
              <a:buFontTx/>
              <a:buChar char="•"/>
            </a:pPr>
            <a:r>
              <a:rPr lang="en-US" altLang="en-US" dirty="0">
                <a:latin typeface="Arial" panose="020B0604020202020204" pitchFamily="34" charset="0"/>
              </a:rPr>
              <a:t>Alert table</a:t>
            </a:r>
          </a:p>
          <a:p>
            <a:pPr lvl="0" algn="l" eaLnBrk="0" fontAlgn="base" hangingPunct="0">
              <a:lnSpc>
                <a:spcPct val="100000"/>
              </a:lnSpc>
              <a:spcBef>
                <a:spcPct val="0"/>
              </a:spcBef>
              <a:spcAft>
                <a:spcPct val="0"/>
              </a:spcAft>
              <a:buFontTx/>
              <a:buChar char="•"/>
            </a:pPr>
            <a:r>
              <a:rPr lang="en-US" altLang="en-US" dirty="0">
                <a:latin typeface="Arial" panose="020B0604020202020204" pitchFamily="34" charset="0"/>
              </a:rPr>
              <a:t>Audit log</a:t>
            </a:r>
          </a:p>
          <a:p>
            <a:pPr lvl="0" algn="l" eaLnBrk="0" fontAlgn="base" hangingPunct="0">
              <a:lnSpc>
                <a:spcPct val="100000"/>
              </a:lnSpc>
              <a:spcBef>
                <a:spcPct val="0"/>
              </a:spcBef>
              <a:spcAft>
                <a:spcPct val="0"/>
              </a:spcAft>
              <a:buFontTx/>
              <a:buChar char="•"/>
            </a:pPr>
            <a:r>
              <a:rPr lang="en-US" altLang="en-US" dirty="0">
                <a:latin typeface="Arial" panose="020B0604020202020204" pitchFamily="34" charset="0"/>
              </a:rPr>
              <a:t>Trigger behavior</a:t>
            </a:r>
          </a:p>
          <a:p>
            <a:pPr lvl="0" algn="l" eaLnBrk="0" fontAlgn="base" hangingPunct="0">
              <a:lnSpc>
                <a:spcPct val="100000"/>
              </a:lnSpc>
              <a:spcBef>
                <a:spcPct val="0"/>
              </a:spcBef>
              <a:spcAft>
                <a:spcPct val="0"/>
              </a:spcAft>
              <a:buFontTx/>
              <a:buChar char="•"/>
            </a:pPr>
            <a:r>
              <a:rPr lang="en-US" altLang="en-US" dirty="0">
                <a:latin typeface="Arial" panose="020B0604020202020204" pitchFamily="34" charset="0"/>
              </a:rPr>
              <a:t>Procedure execution</a:t>
            </a:r>
          </a:p>
          <a:p>
            <a:endParaRPr lang="en-US" dirty="0"/>
          </a:p>
        </p:txBody>
      </p:sp>
    </p:spTree>
    <p:extLst>
      <p:ext uri="{BB962C8B-B14F-4D97-AF65-F5344CB8AC3E}">
        <p14:creationId xmlns:p14="http://schemas.microsoft.com/office/powerpoint/2010/main" val="2478987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Arial" panose="020B0604020202020204" pitchFamily="34" charset="0"/>
                <a:cs typeface="Arial" panose="020B0604020202020204" pitchFamily="34" charset="0"/>
              </a:rPr>
              <a:t>conclusion</a:t>
            </a:r>
            <a:endParaRPr lang="en-US" sz="32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sz="1400" dirty="0">
                <a:latin typeface="Arial" panose="020B0604020202020204" pitchFamily="34" charset="0"/>
                <a:cs typeface="Arial" panose="020B0604020202020204" pitchFamily="34" charset="0"/>
              </a:rPr>
              <a:t>In conclusion, the system improves alert management, enforces rules automatically, and provides stakeholders with actionable insights through BI dashboards. Lessons learned include the critical role of auditing and secure PL/SQL procedures. Future enhancements could include advanced analytics like geolocation and predictive alerts</a:t>
            </a:r>
            <a:r>
              <a:rPr lang="en-US" sz="1400" dirty="0" smtClean="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Achievements: Centralized alert system, automated enforcement, BI </a:t>
            </a:r>
            <a:r>
              <a:rPr lang="en-US" sz="1400" dirty="0" smtClean="0">
                <a:latin typeface="Arial" panose="020B0604020202020204" pitchFamily="34" charset="0"/>
                <a:cs typeface="Arial" panose="020B0604020202020204" pitchFamily="34" charset="0"/>
              </a:rPr>
              <a:t>insights</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Lessons: Importance of auditing, secure updates, real-time </a:t>
            </a:r>
            <a:r>
              <a:rPr lang="en-US" sz="1400" dirty="0" smtClean="0">
                <a:latin typeface="Arial" panose="020B0604020202020204" pitchFamily="34" charset="0"/>
                <a:cs typeface="Arial" panose="020B0604020202020204" pitchFamily="34" charset="0"/>
              </a:rPr>
              <a:t>monitoring</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Next Steps / Q&amp;A: Expand dashboards, add geolocation analytics</a:t>
            </a:r>
          </a:p>
        </p:txBody>
      </p:sp>
    </p:spTree>
    <p:extLst>
      <p:ext uri="{BB962C8B-B14F-4D97-AF65-F5344CB8AC3E}">
        <p14:creationId xmlns:p14="http://schemas.microsoft.com/office/powerpoint/2010/main" val="4103153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TM03457452[[fn=Celestial]]</Template>
  <TotalTime>123</TotalTime>
  <Words>620</Words>
  <Application>Microsoft Office PowerPoint</Application>
  <PresentationFormat>Widescreen</PresentationFormat>
  <Paragraphs>90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Bookman Old Style</vt:lpstr>
      <vt:lpstr>Rockwell</vt:lpstr>
      <vt:lpstr>Wingdings</vt:lpstr>
      <vt:lpstr>Damask</vt:lpstr>
      <vt:lpstr>Stolen Vehicle Recovery System</vt:lpstr>
      <vt:lpstr>Problem Identification</vt:lpstr>
      <vt:lpstr>solution</vt:lpstr>
      <vt:lpstr>Database er</vt:lpstr>
      <vt:lpstr>Business process</vt:lpstr>
      <vt:lpstr>Technical</vt:lpstr>
      <vt:lpstr>Advanced Features</vt:lpstr>
      <vt:lpstr>BI</vt:lpstr>
      <vt:lpstr>Results &amp; Testing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Stolen Vehicle Recovery System</dc:title>
  <dc:creator>EXPERT IN TECHNOLOGY</dc:creator>
  <cp:lastModifiedBy>EXPERT IN TECHNOLOGY</cp:lastModifiedBy>
  <cp:revision>11</cp:revision>
  <dcterms:created xsi:type="dcterms:W3CDTF">2025-12-09T03:39:45Z</dcterms:created>
  <dcterms:modified xsi:type="dcterms:W3CDTF">2025-12-09T05:43:35Z</dcterms:modified>
</cp:coreProperties>
</file>